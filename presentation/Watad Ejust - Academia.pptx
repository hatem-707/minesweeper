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58" r:id="rId8"/>
  </p:sldIdLst>
  <p:sldSz cy="6858000" cx="12192000"/>
  <p:notesSz cx="6858000" cy="9144000"/>
  <p:embeddedFontLst>
    <p:embeddedFont>
      <p:font typeface="Cairo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font" Target="fonts/Cairo-regular.fntdata"/><Relationship Id="rId10" Type="http://schemas.openxmlformats.org/officeDocument/2006/relationships/font" Target="fonts/Cairo-bold.fntdata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E3539"/>
                </a:solidFill>
                <a:latin typeface="Calibri"/>
              </a:rPr>
              <a:t>Ground pressure (kPa) vs robot mass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Tracks</c:v>
                </c:pt>
              </c:strCache>
            </c:strRef>
          </c:tx>
          <c:spPr>
            <a:solidFill>
              <a:srgbClr val="00838F"/>
            </a:solidFill>
          </c:spPr>
          <c:cat>
            <c:strRef>
              <c:f>Sheet1!$A$2:$A$4</c:f>
              <c:strCache>
                <c:ptCount val="3"/>
                <c:pt idx="0">
                  <c:v>20 kg</c:v>
                </c:pt>
                <c:pt idx="1">
                  <c:v>30 kg</c:v>
                </c:pt>
                <c:pt idx="2">
                  <c:v>40 kg (rule limit)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1.6</c:v>
                </c:pt>
                <c:pt idx="2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wheels</c:v>
                </c:pt>
              </c:strCache>
            </c:strRef>
          </c:tx>
          <c:spPr>
            <a:solidFill>
              <a:srgbClr val="C97B1A"/>
            </a:solidFill>
          </c:spPr>
          <c:cat>
            <c:strRef>
              <c:f>Sheet1!$A$2:$A$4</c:f>
              <c:strCache>
                <c:ptCount val="3"/>
                <c:pt idx="0">
                  <c:v>20 kg</c:v>
                </c:pt>
                <c:pt idx="1">
                  <c:v>30 kg</c:v>
                </c:pt>
                <c:pt idx="2">
                  <c:v>40 kg (rule limit)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9.8</c:v>
                </c:pt>
                <c:pt idx="1">
                  <c:v>14.7</c:v>
                </c:pt>
                <c:pt idx="2">
                  <c:v>19.6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FE1"/>
            </a:solidFill>
          </a:ln>
        </c:spPr>
        <c:txPr>
          <a:bodyPr/>
          <a:lstStyle/>
          <a:p>
            <a:pPr>
              <a:defRPr>
                <a:solidFill>
                  <a:srgbClr val="556F7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DF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56F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1E353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E3539"/>
                </a:solidFill>
                <a:latin typeface="Calibri"/>
              </a:rPr>
              <a:t>Rated power per load (W)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Rated W</c:v>
                </c:pt>
              </c:strCache>
            </c:strRef>
          </c:tx>
          <c:spPr>
            <a:solidFill>
              <a:srgbClr val="00838F"/>
            </a:solidFill>
          </c:spPr>
          <c:dPt>
            <c:idx val="6"/>
            <c:spPr>
              <a:solidFill>
                <a:srgbClr val="C97B1A"/>
              </a:solidFill>
            </c:spPr>
          </c:dPt>
          <c:cat>
            <c:strRef>
              <c:f>Sheet1!$A$2:$A$8</c:f>
              <c:strCache>
                <c:ptCount val="7"/>
                <c:pt idx="0">
                  <c:v>STM32 + sensors + camera*</c:v>
                </c:pt>
                <c:pt idx="1">
                  <c:v>Light + siren*</c:v>
                </c:pt>
                <c:pt idx="2">
                  <c:v>Wi-Fi access point*</c:v>
                </c:pt>
                <c:pt idx="3">
                  <c:v>Raspberry Pi 4</c:v>
                </c:pt>
                <c:pt idx="4">
                  <c:v>Electromagnet*</c:v>
                </c:pt>
                <c:pt idx="5">
                  <c:v>Arm wiper motor</c:v>
                </c:pt>
                <c:pt idx="6">
                  <c:v>Track motors (2 × 250 W)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</c:v>
                </c:pt>
                <c:pt idx="1">
                  <c:v>5</c:v>
                </c:pt>
                <c:pt idx="2">
                  <c:v>6</c:v>
                </c:pt>
                <c:pt idx="3">
                  <c:v>7.5</c:v>
                </c:pt>
                <c:pt idx="4">
                  <c:v>12</c:v>
                </c:pt>
                <c:pt idx="5">
                  <c:v>67</c:v>
                </c:pt>
                <c:pt idx="6">
                  <c:v>500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FE1"/>
            </a:solidFill>
          </a:ln>
        </c:spPr>
        <c:txPr>
          <a:bodyPr/>
          <a:lstStyle/>
          <a:p>
            <a:pPr>
              <a:defRPr>
                <a:solidFill>
                  <a:srgbClr val="1E353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9DF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56F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E353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Minesweepers 2026 rulebook, Academia category. Each design choice in this talk traces back to one of these requirements.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Teleoperated tracked UGV. Final mass is still being measured; the rule limit is 40 kg.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rear view with both track loops and the spine. Right: bare chassis showing idlers and road wheels.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Ground pressure p = m·g / contact area. The 0.6 m contact length per track is an estimate from the 195 cm track loop; replace it with the measured value. The comparison holds at any final mass.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layers with two jobs: the chain transmits torque, the rubber sheet adds grip. Cuts in the sheet let it sit flush around each slat.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Specs from the MY1016Z listing (24 V, 250 W). Repurposed wheelchair motors gave high torque on a student budget.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choice: fewer actuators and sensors means fewer failure points in sand and heat, and a control problem small enough for the STM32 to run autonomously.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Datasheet: M&amp;C WD1160 / WD1160-B wiper motor, performance at rated 12 V.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Confirm the heat measures with the team before presenting; the arena is outdoors in Egypt.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Real-time I/O lives on the STM32; anything that needs Linux, ROS or a camera lives on the Pi.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STM32 Black Pill. It talks to the Pi over UART with COBS framing and enforces the 250 ms motor watchdog.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the pack wiring (series vs parallel) and converter ratings with the electronics lead before presenting.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Structs are packed so the 32-bit MCU and the 64-bit Pi agree on the byte layout.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20 × 20 m arena diagonal is about 28 m plus the distance to the base station; the AP rides on the robot so range is set by our own hardware.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the starred estimates with measured currents. Battery energy depends on the pack configuration.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per-stage timeouts, each independent of the others.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Kalman output is /odometry/filtered. The GUI owns mine mapping; the bridge only translates.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 × 19 map, columns A–S and rows 1–19, as the rulebook requires. Map frame: origin at the start corner, +X right, +Y up, heading 0 along +X.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single-class object detector runs in ONNX Runtime on the laptop.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C++20 with Raylib for drawing and GStreamer for video. Layout and colours come from styles.toml, so they can be changed without recompiling.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Lane spacing and cruise speed come from field tests with the real detector.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Telemetry arrives at 20 Hz; any source silent for 500 ms is marked stale.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 team member names and the total spend if the jury asks.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B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0" y="5321498"/>
            <a:ext cx="762000" cy="38100"/>
          </a:xfrm>
          <a:prstGeom prst="roundRect">
            <a:avLst>
              <a:gd fmla="val 50000" name="adj"/>
            </a:avLst>
          </a:prstGeom>
          <a:solidFill>
            <a:srgbClr val="00AC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171596" y="3955230"/>
            <a:ext cx="377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TEAM NAME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79720" y="2089554"/>
            <a:ext cx="117813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Minesweepers Competition 2026 </a:t>
            </a:r>
            <a:endParaRPr b="1" sz="2400">
              <a:solidFill>
                <a:srgbClr val="FFF2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13</a:t>
            </a:r>
            <a:r>
              <a:rPr b="1" i="0" lang="en-US" sz="2400" u="none" cap="none" strike="noStrike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 Edition</a:t>
            </a:r>
            <a:endParaRPr sz="2400">
              <a:solidFill>
                <a:srgbClr val="FFF2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75" y="265650"/>
            <a:ext cx="3292175" cy="120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133140" y="4431690"/>
            <a:ext cx="377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Category</a:t>
            </a:r>
            <a:endParaRPr sz="2700">
              <a:solidFill>
                <a:schemeClr val="lt1"/>
              </a:solidFill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1425" y="5321500"/>
            <a:ext cx="1349600" cy="12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602625" y="2712500"/>
            <a:ext cx="3712850" cy="37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flipH="1" rot="917799">
            <a:off x="8493142" y="180163"/>
            <a:ext cx="3357474" cy="335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B3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810250" y="5395912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0AC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227016" y="2491887"/>
            <a:ext cx="373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Thank You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2225" y="710425"/>
            <a:ext cx="3292175" cy="12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1225" y="3811400"/>
            <a:ext cx="1349600" cy="12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The mission and our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6916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556F73"/>
                </a:solidFill>
                <a:latin typeface="Calibri"/>
              </a:rPr>
              <a:t>The arena demands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624" y="16916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00838F"/>
                </a:solidFill>
                <a:latin typeface="Calibri"/>
              </a:rPr>
              <a:t>Our design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2075688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7064" y="2075688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Rough 20 × 20 m arena: sand, grass, inclines, ditches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4864" y="2331720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70624" y="2075688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7784" y="2075688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Tracked chassis with 15 cm wide tracks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2679192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7064" y="2679192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Buried 10 cm cubes (≤ 10 cm deep) and 5 cm surface cubes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864" y="2935224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70624" y="2679192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7784" y="2679192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Metal detector + camera with on-laptop 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3282696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7064" y="3282696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Light and siren on every detection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4864" y="3538728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70624" y="3282696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07784" y="3282696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Light + siren fire on every metal hit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" y="3886200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7064" y="3886200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Automatic mine map on a 19 × 19 grid (A–S, 1–19)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4864" y="4142232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70624" y="3886200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07784" y="3886200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Kalman localization + automatic mapping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4489704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7064" y="4489704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Collect the surface mines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864" y="4745736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70624" y="4489704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07784" y="4489704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Autonomous pickup sequence: arm + electromagnet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" y="5093208"/>
            <a:ext cx="534924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7064" y="5093208"/>
            <a:ext cx="512064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1E3539"/>
                </a:solidFill>
                <a:latin typeface="Calibri"/>
              </a:rPr>
              <a:t>No Wi-Fi and no power provided at the arena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4864" y="5349240"/>
            <a:ext cx="320040" cy="0"/>
          </a:xfrm>
          <a:prstGeom prst="line">
            <a:avLst/>
          </a:prstGeom>
          <a:ln w="254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70624" y="5093208"/>
            <a:ext cx="5212080" cy="512064"/>
          </a:xfrm>
          <a:prstGeom prst="roundRect">
            <a:avLst>
              <a:gd name="adj" fmla="val 1428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07784" y="5093208"/>
            <a:ext cx="4937760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Onboard access point, 2 × 10 Ah LiPo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Robot at a glance</a:t>
            </a:r>
          </a:p>
        </p:txBody>
      </p:sp>
      <p:pic>
        <p:nvPicPr>
          <p:cNvPr id="7" name="Picture 6" descr="WhatsApp Image 2026-10-08 at 10.57.43 PM (3).jpeg"/>
          <p:cNvPicPr>
            <a:picLocks noChangeAspect="1"/>
          </p:cNvPicPr>
          <p:nvPr/>
        </p:nvPicPr>
        <p:blipFill>
          <a:blip r:embed="rId3"/>
          <a:srcRect t="3889" b="3182"/>
          <a:stretch>
            <a:fillRect/>
          </a:stretch>
        </p:blipFill>
        <p:spPr>
          <a:xfrm>
            <a:off x="609904" y="1691640"/>
            <a:ext cx="6035040" cy="4206240"/>
          </a:xfrm>
          <a:prstGeom prst="roundRect">
            <a:avLst>
              <a:gd name="adj" fmla="val 2608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6916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4031" y="18745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80 × 75 × 46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1" y="244144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Length × width × height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6916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491472" y="18745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2 × 250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44144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24 V geared track motors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10896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14031" y="32918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Pi 4 + STM32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1" y="385876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High-level + real-time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10896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491472" y="32918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2 × 10 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385876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LiPo battery packs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452628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14031" y="47091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Own Wi-Fi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527608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Onboard access 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52628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91472" y="47091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1" i="0">
                <a:solidFill>
                  <a:srgbClr val="00838F"/>
                </a:solidFill>
                <a:latin typeface="Cairo"/>
              </a:rPr>
              <a:t>ROS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5276088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Robot and base station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4</a:t>
            </a:r>
          </a:p>
        </p:txBody>
      </p:sp>
      <p:pic>
        <p:nvPicPr>
          <p:cNvPr id="5" name="Picture 4" descr="WhatsApp Image 2026-10-08 at 10.57.44 PM (1).jpeg"/>
          <p:cNvPicPr>
            <a:picLocks noChangeAspect="1"/>
          </p:cNvPicPr>
          <p:nvPr/>
        </p:nvPicPr>
        <p:blipFill>
          <a:blip r:embed="rId3"/>
          <a:srcRect l="6793" r="6793"/>
          <a:stretch>
            <a:fillRect/>
          </a:stretch>
        </p:blipFill>
        <p:spPr>
          <a:xfrm>
            <a:off x="6720840" y="1600200"/>
            <a:ext cx="4846320" cy="4206240"/>
          </a:xfrm>
          <a:prstGeom prst="roundRect">
            <a:avLst>
              <a:gd name="adj" fmla="val 2608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609904" y="14173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600" b="1" i="0">
                <a:solidFill>
                  <a:srgbClr val="00ACC1"/>
                </a:solidFill>
                <a:latin typeface="Cai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320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00838F"/>
                </a:solidFill>
                <a:latin typeface="Cairo"/>
              </a:rPr>
              <a:t>Mechanical Systems &amp; Robot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Body structure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Why tracks over wheels on sand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Track construction and drive train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Arm and autonomous pickup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Built for sand and heat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Body structure</a:t>
            </a:r>
          </a:p>
        </p:txBody>
      </p:sp>
      <p:pic>
        <p:nvPicPr>
          <p:cNvPr id="7" name="Picture 6" descr="WhatsApp Image 2026-10-08 at 10.57.43 PM (1).jpeg"/>
          <p:cNvPicPr>
            <a:picLocks noChangeAspect="1"/>
          </p:cNvPicPr>
          <p:nvPr/>
        </p:nvPicPr>
        <p:blipFill>
          <a:blip r:embed="rId3"/>
          <a:srcRect t="18927" b="18927"/>
          <a:stretch>
            <a:fillRect/>
          </a:stretch>
        </p:blipFill>
        <p:spPr>
          <a:xfrm>
            <a:off x="609904" y="1691640"/>
            <a:ext cx="5394960" cy="2514600"/>
          </a:xfrm>
          <a:prstGeom prst="roundRect">
            <a:avLst>
              <a:gd name="adj" fmla="val 4363"/>
            </a:avLst>
          </a:prstGeom>
        </p:spPr>
      </p:pic>
      <p:pic>
        <p:nvPicPr>
          <p:cNvPr id="8" name="Picture 7" descr="WhatsApp Image 2026-10-10 at 7.39.29 PM.jpeg"/>
          <p:cNvPicPr>
            <a:picLocks noChangeAspect="1"/>
          </p:cNvPicPr>
          <p:nvPr/>
        </p:nvPicPr>
        <p:blipFill>
          <a:blip r:embed="rId4"/>
          <a:srcRect t="10282" b="6855"/>
          <a:stretch>
            <a:fillRect/>
          </a:stretch>
        </p:blipFill>
        <p:spPr>
          <a:xfrm>
            <a:off x="6187744" y="1691640"/>
            <a:ext cx="5394960" cy="2514600"/>
          </a:xfrm>
          <a:prstGeom prst="roundRect">
            <a:avLst>
              <a:gd name="adj" fmla="val 4363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609904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92784" y="461772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704" y="46177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Two track pods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Each pod carries its own motor, chain drive, idlers and road wheels.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3224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496104" y="461772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9024" y="46177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Central spine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10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Bridges the pods and carries the electronics, control panel and arm.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544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99424" y="461772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2344" y="46177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Low and 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942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80 × 75 × 46 cm footprint keeps the centre of gravity low between the tracks.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Why tracks over wheels on sand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9904" y="1691640"/>
          <a:ext cx="585216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904" y="55961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56F73"/>
                </a:solidFill>
                <a:latin typeface="Calibri"/>
              </a:rPr>
              <a:t>Contact estimates: 2 tracks × 0.60 m × 0.15 m vs 4 wheels × 10 × 5 cm 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4000" b="1" i="0">
                <a:solidFill>
                  <a:srgbClr val="00838F"/>
                </a:solidFill>
                <a:latin typeface="Cairo"/>
              </a:rPr>
              <a:t>≈ 9× </a:t>
            </a:r>
            <a:r>
              <a:rPr sz="1800" b="1" i="0">
                <a:solidFill>
                  <a:srgbClr val="0B2B30"/>
                </a:solidFill>
                <a:latin typeface="Calibri"/>
              </a:rPr>
              <a:t>lower ground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4709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500" b="1" i="0">
                <a:solidFill>
                  <a:srgbClr val="1E3539"/>
                </a:solidFill>
                <a:latin typeface="Calibri"/>
              </a:rPr>
              <a:t>Floats on loose sand: </a:t>
            </a:r>
            <a:r>
              <a:rPr sz="1500" b="0" i="0">
                <a:solidFill>
                  <a:srgbClr val="1E3539"/>
                </a:solidFill>
                <a:latin typeface="Calibri"/>
              </a:rPr>
              <a:t>the long footprint spreads the load instead of digging in.</a:t>
            </a:r>
          </a:p>
          <a:p>
            <a:pPr marL="228600" indent="-228600">
              <a:spcBef>
                <a:spcPts val="1000"/>
              </a:spcBef>
              <a:buClr>
                <a:srgbClr val="00838F"/>
              </a:buClr>
              <a:buFont typeface="Arial"/>
              <a:buChar char="•"/>
            </a:pPr>
            <a:r>
              <a:rPr sz="1500" b="1" i="0">
                <a:solidFill>
                  <a:srgbClr val="1E3539"/>
                </a:solidFill>
                <a:latin typeface="Calibri"/>
              </a:rPr>
              <a:t>Traction: </a:t>
            </a:r>
            <a:r>
              <a:rPr sz="1500" b="0" i="0">
                <a:solidFill>
                  <a:srgbClr val="1E3539"/>
                </a:solidFill>
                <a:latin typeface="Calibri"/>
              </a:rPr>
              <a:t>every slat is a grouser biting into sand and grass.</a:t>
            </a:r>
          </a:p>
          <a:p>
            <a:pPr marL="228600" indent="-228600">
              <a:spcBef>
                <a:spcPts val="1000"/>
              </a:spcBef>
              <a:buClr>
                <a:srgbClr val="00838F"/>
              </a:buClr>
              <a:buFont typeface="Arial"/>
              <a:buChar char="•"/>
            </a:pPr>
            <a:r>
              <a:rPr sz="1500" b="1" i="0">
                <a:solidFill>
                  <a:srgbClr val="1E3539"/>
                </a:solidFill>
                <a:latin typeface="Calibri"/>
              </a:rPr>
              <a:t>Bridges ditches and stones </a:t>
            </a:r>
            <a:r>
              <a:rPr sz="1500" b="0" i="0">
                <a:solidFill>
                  <a:srgbClr val="1E3539"/>
                </a:solidFill>
                <a:latin typeface="Calibri"/>
              </a:rPr>
              <a:t>that would trap a small wheel.</a:t>
            </a:r>
          </a:p>
          <a:p>
            <a:pPr marL="228600" indent="-228600">
              <a:spcBef>
                <a:spcPts val="1000"/>
              </a:spcBef>
              <a:buClr>
                <a:srgbClr val="00838F"/>
              </a:buClr>
              <a:buFont typeface="Arial"/>
              <a:buChar char="•"/>
            </a:pPr>
            <a:r>
              <a:rPr sz="1500" b="1" i="0">
                <a:solidFill>
                  <a:srgbClr val="C97B1A"/>
                </a:solidFill>
                <a:latin typeface="Calibri"/>
              </a:rPr>
              <a:t>Trade-off: </a:t>
            </a:r>
            <a:r>
              <a:rPr sz="1500" b="0" i="0">
                <a:solidFill>
                  <a:srgbClr val="1E3539"/>
                </a:solidFill>
                <a:latin typeface="Calibri"/>
              </a:rPr>
              <a:t>skid-steer turns need more torque, so we use 250 W geared motors.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Track construction</a:t>
            </a:r>
          </a:p>
        </p:txBody>
      </p:sp>
      <p:pic>
        <p:nvPicPr>
          <p:cNvPr id="7" name="Picture 6" descr="WhatsApp Image 2026-10-10 at 7.40.33 PM.jpeg"/>
          <p:cNvPicPr>
            <a:picLocks noChangeAspect="1"/>
          </p:cNvPicPr>
          <p:nvPr/>
        </p:nvPicPr>
        <p:blipFill>
          <a:blip r:embed="rId3"/>
          <a:srcRect t="22596" b="22596"/>
          <a:stretch>
            <a:fillRect/>
          </a:stretch>
        </p:blipFill>
        <p:spPr>
          <a:xfrm>
            <a:off x="609904" y="1691640"/>
            <a:ext cx="3566160" cy="2606040"/>
          </a:xfrm>
          <a:prstGeom prst="roundRect">
            <a:avLst>
              <a:gd name="adj" fmla="val 4210"/>
            </a:avLst>
          </a:prstGeom>
        </p:spPr>
      </p:pic>
      <p:sp>
        <p:nvSpPr>
          <p:cNvPr id="8" name="Oval 7"/>
          <p:cNvSpPr/>
          <p:nvPr/>
        </p:nvSpPr>
        <p:spPr>
          <a:xfrm>
            <a:off x="747064" y="1810512"/>
            <a:ext cx="384048" cy="384048"/>
          </a:xfrm>
          <a:prstGeom prst="ellipse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Aluminium slats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8006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Extruded profile with a stepped edge that acts as a grouser.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4352" y="2999232"/>
            <a:ext cx="10058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WhatsApp Image 2026-10-08 at 10.57.42 PM (2).jpeg"/>
          <p:cNvPicPr>
            <a:picLocks noChangeAspect="1"/>
          </p:cNvPicPr>
          <p:nvPr/>
        </p:nvPicPr>
        <p:blipFill>
          <a:blip r:embed="rId4"/>
          <a:srcRect t="1282" b="1282"/>
          <a:stretch>
            <a:fillRect/>
          </a:stretch>
        </p:blipFill>
        <p:spPr>
          <a:xfrm>
            <a:off x="4313224" y="1691640"/>
            <a:ext cx="3566160" cy="2606040"/>
          </a:xfrm>
          <a:prstGeom prst="roundRect">
            <a:avLst>
              <a:gd name="adj" fmla="val 4210"/>
            </a:avLst>
          </a:prstGeom>
        </p:spPr>
      </p:pic>
      <p:sp>
        <p:nvSpPr>
          <p:cNvPr id="13" name="Oval 12"/>
          <p:cNvSpPr/>
          <p:nvPr/>
        </p:nvSpPr>
        <p:spPr>
          <a:xfrm>
            <a:off x="4450384" y="1810512"/>
            <a:ext cx="384048" cy="384048"/>
          </a:xfrm>
          <a:prstGeom prst="ellipse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3224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Chain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3224" y="48006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The chain carries motor torque from the sprocket to every slat.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97672" y="2999232"/>
            <a:ext cx="10058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WhatsApp Image 2026-10-08 at 10.57.42 PM.jpeg"/>
          <p:cNvPicPr>
            <a:picLocks noChangeAspect="1"/>
          </p:cNvPicPr>
          <p:nvPr/>
        </p:nvPicPr>
        <p:blipFill>
          <a:blip r:embed="rId5"/>
          <a:srcRect t="2564"/>
          <a:stretch>
            <a:fillRect/>
          </a:stretch>
        </p:blipFill>
        <p:spPr>
          <a:xfrm>
            <a:off x="8016544" y="1691640"/>
            <a:ext cx="3566160" cy="2606040"/>
          </a:xfrm>
          <a:prstGeom prst="roundRect">
            <a:avLst>
              <a:gd name="adj" fmla="val 4210"/>
            </a:avLst>
          </a:prstGeom>
        </p:spPr>
      </p:pic>
      <p:sp>
        <p:nvSpPr>
          <p:cNvPr id="18" name="Oval 17"/>
          <p:cNvSpPr/>
          <p:nvPr/>
        </p:nvSpPr>
        <p:spPr>
          <a:xfrm>
            <a:off x="8153704" y="1810512"/>
            <a:ext cx="384048" cy="384048"/>
          </a:xfrm>
          <a:prstGeom prst="ellipse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6544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Rubber grip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6544" y="48006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Rubber sheet with cuts so it fits around the slats and grips the sand.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" y="548640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09904" y="54864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0B2B30"/>
                </a:solidFill>
                <a:latin typeface="Calibri"/>
              </a:rPr>
              <a:t>Track loop 195 cm  ·  width 15 cm  ·  </a:t>
            </a:r>
            <a:r>
              <a:rPr sz="1400" b="0" i="0">
                <a:solidFill>
                  <a:srgbClr val="0B2B30"/>
                </a:solidFill>
                <a:latin typeface="Calibri"/>
              </a:rPr>
              <a:t>white idlers on top, road wheels below carry the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Drive train</a:t>
            </a:r>
          </a:p>
        </p:txBody>
      </p:sp>
      <p:pic>
        <p:nvPicPr>
          <p:cNvPr id="7" name="Picture 6" descr="WhatsApp Image 2026-10-10 at 7.38.58 PM.jpeg"/>
          <p:cNvPicPr>
            <a:picLocks noChangeAspect="1"/>
          </p:cNvPicPr>
          <p:nvPr/>
        </p:nvPicPr>
        <p:blipFill>
          <a:blip r:embed="rId3"/>
          <a:srcRect t="12656" b="15469"/>
          <a:stretch>
            <a:fillRect/>
          </a:stretch>
        </p:blipFill>
        <p:spPr>
          <a:xfrm>
            <a:off x="609904" y="1691640"/>
            <a:ext cx="3291840" cy="4206240"/>
          </a:xfrm>
          <a:prstGeom prst="roundRect">
            <a:avLst>
              <a:gd name="adj" fmla="val 3333"/>
            </a:avLst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0" y="1691640"/>
          <a:ext cx="7379208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5550408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Motor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MY1016Z brushed DC gear motor, 2 units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Electric wheelchair drive, sourced locally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Supply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24 V DC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Rated power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250 W each, 500 W total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Gearbox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Integrated reduction, high output torque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≈ 10.4 A each at rated output (250 W ÷ 24 V)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B2B30"/>
                          </a:solidFill>
                          <a:latin typeface="Calibri"/>
                        </a:rPr>
                        <a:t>Transmission</a:t>
                      </a:r>
                    </a:p>
                  </a:txBody>
                  <a:tcPr marL="109728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E3539"/>
                          </a:solidFill>
                          <a:latin typeface="Calibri"/>
                        </a:rPr>
                        <a:t>Chain from gearbox shaft to track sprocket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0" y="4709160"/>
            <a:ext cx="7379208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89120" y="4800600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0838F"/>
                </a:solidFill>
                <a:latin typeface="Calibri"/>
              </a:rPr>
              <a:t>Skid steering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3539"/>
                </a:solidFill>
                <a:latin typeface="Calibri"/>
              </a:rPr>
              <a:t>Same speed on both tracks drives straight; a speed difference turns the robot, down to turning in place. The STM32 mixes the forward and turn commands.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 · DISPOSAL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Arm design: one joint, free-hanging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822960" y="5440680"/>
            <a:ext cx="5074920" cy="0"/>
          </a:xfrm>
          <a:prstGeom prst="line">
            <a:avLst/>
          </a:prstGeom>
          <a:ln w="25400">
            <a:solidFill>
              <a:srgbClr val="C97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43434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0B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Chassis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246120" y="2240280"/>
            <a:ext cx="640080" cy="1965960"/>
          </a:xfrm>
          <a:prstGeom prst="line">
            <a:avLst/>
          </a:prstGeom>
          <a:ln w="50800">
            <a:solidFill>
              <a:srgbClr val="55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200" y="2240280"/>
            <a:ext cx="0" cy="640080"/>
          </a:xfrm>
          <a:prstGeom prst="line">
            <a:avLst/>
          </a:prstGeom>
          <a:ln w="25400">
            <a:solidFill>
              <a:srgbClr val="55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3320" y="2880360"/>
            <a:ext cx="365760" cy="182880"/>
          </a:xfrm>
          <a:prstGeom prst="rect">
            <a:avLst/>
          </a:prstGeom>
          <a:solidFill>
            <a:srgbClr val="55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9080" y="20116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56F73"/>
                </a:solidFill>
                <a:latin typeface="Calibri"/>
              </a:rPr>
              <a:t>upright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46120" y="3794760"/>
            <a:ext cx="1828800" cy="411480"/>
          </a:xfrm>
          <a:prstGeom prst="line">
            <a:avLst/>
          </a:prstGeom>
          <a:ln w="762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3794760"/>
            <a:ext cx="0" cy="1051560"/>
          </a:xfrm>
          <a:prstGeom prst="line">
            <a:avLst/>
          </a:prstGeom>
          <a:ln w="31750">
            <a:solidFill>
              <a:srgbClr val="0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00600" y="4846320"/>
            <a:ext cx="548640" cy="2011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892040" y="5074920"/>
            <a:ext cx="365760" cy="365760"/>
          </a:xfrm>
          <a:prstGeom prst="rect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4160520" y="2514600"/>
            <a:ext cx="731520" cy="1005840"/>
          </a:xfrm>
          <a:prstGeom prst="line">
            <a:avLst/>
          </a:prstGeom>
          <a:ln w="25400">
            <a:solidFill>
              <a:srgbClr val="C97B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054096" y="4014215"/>
            <a:ext cx="384048" cy="384048"/>
          </a:xfrm>
          <a:prstGeom prst="ellipse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23560" y="3931920"/>
            <a:ext cx="0" cy="731520"/>
          </a:xfrm>
          <a:prstGeom prst="line">
            <a:avLst/>
          </a:prstGeom>
          <a:ln w="19050">
            <a:solidFill>
              <a:srgbClr val="0B2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0" y="41605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mbria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300" b="1" i="0">
                <a:solidFill>
                  <a:srgbClr val="00ACC1"/>
                </a:solidFill>
                <a:latin typeface="Calibri"/>
              </a:rPr>
              <a:t>Single joint</a:t>
            </a:r>
          </a:p>
          <a:p>
            <a:pPr algn="r"/>
            <a:r>
              <a:rPr sz="1100" b="0" i="0">
                <a:solidFill>
                  <a:srgbClr val="556F73"/>
                </a:solidFill>
                <a:latin typeface="Calibri"/>
              </a:rPr>
              <a:t>driven by the wiper 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4632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1" i="0">
                <a:solidFill>
                  <a:srgbClr val="00838F"/>
                </a:solidFill>
                <a:latin typeface="Calibri"/>
              </a:rPr>
              <a:t>Magnet</a:t>
            </a:r>
          </a:p>
          <a:p>
            <a:pPr algn="r"/>
            <a:r>
              <a:rPr sz="1100" b="0" i="0">
                <a:solidFill>
                  <a:srgbClr val="C97B1A"/>
                </a:solidFill>
                <a:latin typeface="Calibri"/>
              </a:rPr>
              <a:t>+ mine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187952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1" i="0">
                <a:solidFill>
                  <a:srgbClr val="0B2B30"/>
                </a:solidFill>
                <a:latin typeface="Calibri"/>
              </a:rPr>
              <a:t>Free-hanging end</a:t>
            </a:r>
          </a:p>
          <a:p>
            <a:pPr algn="r"/>
            <a:r>
              <a:rPr sz="1100" b="0" i="0">
                <a:solidFill>
                  <a:srgbClr val="556F73"/>
                </a:solidFill>
                <a:latin typeface="Calibri"/>
              </a:rPr>
              <a:t>gravity keeps the magnet 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691640"/>
            <a:ext cx="5230368" cy="1298448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537960" y="1856232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82880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One degree of freedom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295144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A single rotary joint driven by the wiper motor: one motor, one limit switch, no arm kinematics to solve.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127248"/>
            <a:ext cx="5230368" cy="1298448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537960" y="329184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264408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Free-weight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730752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The electromagnet hangs from a free pivot, so gravity keeps it facing the ground at any arm angle, even on a slope.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562856"/>
            <a:ext cx="5230368" cy="1298448"/>
          </a:xfrm>
          <a:prstGeom prst="roundRect">
            <a:avLst>
              <a:gd name="adj" fmla="val 5633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537960" y="4727448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700016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B2B30"/>
                </a:solidFill>
                <a:latin typeface="Calibri"/>
              </a:rPr>
              <a:t>Simple, effective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166360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Only two positions, lowered and upright, with the upright switch as the reference: easy for the STM32 to control reliably.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 · DISPOSAL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Autonomous pickup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2784" y="1874519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7144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" y="2468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Operator presses Pick up (J) once. The GUI sends it only if the arm reads upright.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4232" y="265176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8824" y="1691640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81704" y="1874519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6064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Lower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704" y="2468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The wiper motor swings the arm down over the surface mine.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3152" y="265176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7744" y="1691640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70624" y="1874519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984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Grab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624" y="2468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The electromagnet is energised and the arm lifts the steel cube.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2072" y="265176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76664" y="1691640"/>
            <a:ext cx="260604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59544" y="1874519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904" y="1874519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Stow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544" y="2468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The magnet releases the mine into the container; the arm returns upright.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" y="3840480"/>
            <a:ext cx="6400800" cy="2057400"/>
          </a:xfrm>
          <a:prstGeom prst="roundRect">
            <a:avLst>
              <a:gd name="adj" fmla="val 355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8" y="3977639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Arm motor: WD1160-series wiper motor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3539"/>
                </a:solidFill>
                <a:latin typeface="Calibri"/>
              </a:rPr>
              <a:t>12 V DC · aluminium die-cast gearbox · two speeds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3539"/>
                </a:solidFill>
                <a:latin typeface="Calibri"/>
              </a:rPr>
              <a:t>Rated 21.5–28 rpm, 5.2–13.2 N·m (peak up to 15 N·m) depending on variant and speed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3840480"/>
            <a:ext cx="4343400" cy="2057400"/>
          </a:xfrm>
          <a:prstGeom prst="roundRect">
            <a:avLst>
              <a:gd name="adj" fmla="val 3555"/>
            </a:avLst>
          </a:prstGeom>
          <a:solidFill>
            <a:srgbClr val="F6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4927" y="3977639"/>
            <a:ext cx="402336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Runs autonomously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3539"/>
                </a:solidFill>
                <a:latin typeface="Calibri"/>
              </a:rPr>
              <a:t>Once triggered, the STM32 runs every step with no operator input. An upright limit switch blocks a new pickup until the arm is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MECHANICAL · ROUGH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Built for sand and heat</a:t>
            </a:r>
          </a:p>
        </p:txBody>
      </p:sp>
      <p:pic>
        <p:nvPicPr>
          <p:cNvPr id="7" name="Picture 6" descr="WhatsApp Image 2026-10-08 at 10.57.43 PM (4).jpeg"/>
          <p:cNvPicPr>
            <a:picLocks noChangeAspect="1"/>
          </p:cNvPicPr>
          <p:nvPr/>
        </p:nvPicPr>
        <p:blipFill>
          <a:blip r:embed="rId3"/>
          <a:srcRect t="14667" b="12000"/>
          <a:stretch>
            <a:fillRect/>
          </a:stretch>
        </p:blipFill>
        <p:spPr>
          <a:xfrm>
            <a:off x="609904" y="1691640"/>
            <a:ext cx="3657600" cy="2011680"/>
          </a:xfrm>
          <a:prstGeom prst="roundRect">
            <a:avLst>
              <a:gd name="adj" fmla="val 5454"/>
            </a:avLst>
          </a:prstGeom>
        </p:spPr>
      </p:pic>
      <p:pic>
        <p:nvPicPr>
          <p:cNvPr id="8" name="Picture 7" descr="WhatsApp Image 2026-10-08 at 10.57.42 PM (1).jpeg"/>
          <p:cNvPicPr>
            <a:picLocks noChangeAspect="1"/>
          </p:cNvPicPr>
          <p:nvPr/>
        </p:nvPicPr>
        <p:blipFill>
          <a:blip r:embed="rId4"/>
          <a:srcRect t="13333" b="13333"/>
          <a:stretch>
            <a:fillRect/>
          </a:stretch>
        </p:blipFill>
        <p:spPr>
          <a:xfrm>
            <a:off x="609904" y="3886200"/>
            <a:ext cx="3657600" cy="2011680"/>
          </a:xfrm>
          <a:prstGeom prst="roundRect">
            <a:avLst>
              <a:gd name="adj" fmla="val 5454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526280" y="1691640"/>
            <a:ext cx="3401568" cy="420624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00838F"/>
                </a:solidFill>
                <a:latin typeface="Calibri"/>
              </a:rPr>
              <a:t>Sand and rough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971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Low ground pressure keeps the robot on top of loose sand</a:t>
            </a:r>
          </a:p>
          <a:p>
            <a:pPr marL="228600" indent="-228600">
              <a:spcBef>
                <a:spcPts val="9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Slat grousers + rubber grip layer for traction on sand and grass</a:t>
            </a:r>
          </a:p>
          <a:p>
            <a:pPr marL="228600" indent="-228600">
              <a:spcBef>
                <a:spcPts val="9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Long track footprint bridges ditches and stones</a:t>
            </a:r>
          </a:p>
          <a:p>
            <a:pPr marL="228600" indent="-228600">
              <a:spcBef>
                <a:spcPts val="9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Tested outdoors on sand and grass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401568" cy="420624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C97B1A"/>
                </a:solidFill>
                <a:latin typeface="Calibri"/>
              </a:rPr>
              <a:t>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971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Electronics sit inside the chassis, shaded from direct sun</a:t>
            </a:r>
          </a:p>
          <a:p>
            <a:pPr marL="228600" indent="-228600">
              <a:spcBef>
                <a:spcPts val="9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Drive motors cruise well below their 250 W rating</a:t>
            </a:r>
          </a:p>
          <a:p>
            <a:pPr marL="228600" indent="-228600">
              <a:spcBef>
                <a:spcPts val="9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LiPo temperature checked between runs; spare pack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12</a:t>
            </a:r>
          </a:p>
        </p:txBody>
      </p:sp>
      <p:pic>
        <p:nvPicPr>
          <p:cNvPr id="5" name="Picture 4" descr="WhatsApp Image 2026-10-08 at 10.57.43 PM (2).jpeg"/>
          <p:cNvPicPr>
            <a:picLocks noChangeAspect="1"/>
          </p:cNvPicPr>
          <p:nvPr/>
        </p:nvPicPr>
        <p:blipFill>
          <a:blip r:embed="rId3"/>
          <a:srcRect l="6793" r="6793"/>
          <a:stretch>
            <a:fillRect/>
          </a:stretch>
        </p:blipFill>
        <p:spPr>
          <a:xfrm>
            <a:off x="6720840" y="1600200"/>
            <a:ext cx="4846320" cy="4206240"/>
          </a:xfrm>
          <a:prstGeom prst="roundRect">
            <a:avLst>
              <a:gd name="adj" fmla="val 2608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609904" y="14173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600" b="1" i="0">
                <a:solidFill>
                  <a:srgbClr val="00ACC1"/>
                </a:solidFill>
                <a:latin typeface="Cair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320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00838F"/>
                </a:solidFill>
                <a:latin typeface="Cairo"/>
              </a:rPr>
              <a:t>Electronic Components &amp; 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Sensors and microcontrollers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Why an STM32 for real-time control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Power architecture and budget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On-robot and robot-to-station links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Layered safety stops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Sensors and controllers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904" y="1645920"/>
          <a:ext cx="10972800" cy="422452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108960"/>
                <a:gridCol w="5120640"/>
                <a:gridCol w="2743200"/>
              </a:tblGrid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9728" marT="27432" marB="27432" anchor="ctr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T="27432" marB="27432" anchor="ctr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109728" marT="27432" marB="27432" anchor="ctr">
                    <a:solidFill>
                      <a:srgbClr val="0083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Raspberry Pi 4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ROS 2, localization, video streaming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Main computer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STM32 Black Pill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Motor PWM, encoders, ADC, arm, magnet, watchdog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UART to Pi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Wheel encoders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Track odometry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STM32 timers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MPU-9250 IMU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9-axis: accelerometer, gyro, magnetometer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I2C to Pi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Metal detector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Buried and surface mines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Analog to STM32 ADC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USB camera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Surface-mine vision and operator view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USB to Pi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Motor drivers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2 × 250 W track motors + arm motor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PWM from STM32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Electromagnet + limit switch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Mine pickup, arm-upright interlock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STM32 I/O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Light + siren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Signal every detection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Digital output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0B2B30"/>
                          </a:solidFill>
                          <a:latin typeface="Calibri"/>
                        </a:rPr>
                        <a:t>Wi-Fi access point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Robot's own network to the base station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E3539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109728" marT="27432" marB="27432" anchor="ctr">
                    <a:solidFill>
                      <a:srgbClr val="D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Why an STM32 for real-time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38504" y="192024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8584" y="19202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Hardware encoder timers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" y="25603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56F73"/>
                </a:solidFill>
                <a:latin typeface="Calibri"/>
              </a:rPr>
              <a:t>Quadrature counting in hardware: no lost counts at full track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744" y="169164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16344" y="192024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424" y="19202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Deterministic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344" y="25603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56F73"/>
                </a:solidFill>
                <a:latin typeface="Calibri"/>
              </a:rPr>
              <a:t>A bare-metal control loop with fixed timing for PWM, sampling and the watchdog.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384048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8504" y="406908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8584" y="40690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12-bit ADC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" y="4709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56F73"/>
                </a:solidFill>
                <a:latin typeface="Calibri"/>
              </a:rPr>
              <a:t>Samples the metal-detector signal for clean threshold detection.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744" y="384048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16344" y="406908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6424" y="40690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Dedicated to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344" y="4709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556F73"/>
                </a:solidFill>
                <a:latin typeface="Calibri"/>
              </a:rPr>
              <a:t>Networking lives on the Pi and the onboard AP; the MCU only runs real-time I/O.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Power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063240"/>
            <a:ext cx="1920240" cy="1097280"/>
          </a:xfrm>
          <a:prstGeom prst="roundRect">
            <a:avLst>
              <a:gd name="adj" fmla="val 6666"/>
            </a:avLst>
          </a:prstGeom>
          <a:solidFill>
            <a:srgbClr val="F6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 i="0">
                <a:solidFill>
                  <a:srgbClr val="0B2B30"/>
                </a:solidFill>
                <a:latin typeface="Calibri"/>
              </a:rPr>
              <a:t>2 × 10 Ah</a:t>
            </a:r>
          </a:p>
          <a:p>
            <a:pPr algn="ctr"/>
            <a:r>
              <a:rPr sz="1400" b="0" i="0">
                <a:solidFill>
                  <a:srgbClr val="1E3539"/>
                </a:solidFill>
                <a:latin typeface="Calibri"/>
              </a:rPr>
              <a:t>LiPo packs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3611880"/>
            <a:ext cx="411480" cy="0"/>
          </a:xfrm>
          <a:prstGeom prst="line">
            <a:avLst/>
          </a:prstGeom>
          <a:ln w="31750">
            <a:solidFill>
              <a:srgbClr val="0B2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3063240"/>
            <a:ext cx="1920240" cy="1097280"/>
          </a:xfrm>
          <a:prstGeom prst="roundRect">
            <a:avLst>
              <a:gd name="adj" fmla="val 6666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C62828"/>
                </a:solidFill>
                <a:latin typeface="Calibri"/>
              </a:rPr>
              <a:t>Main switch</a:t>
            </a:r>
          </a:p>
          <a:p>
            <a:pPr algn="ctr"/>
            <a:r>
              <a:rPr sz="1400" b="0" i="0">
                <a:solidFill>
                  <a:srgbClr val="C62828"/>
                </a:solidFill>
                <a:latin typeface="Calibri"/>
              </a:rPr>
              <a:t>+ E-stop buttons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46904" y="3611880"/>
            <a:ext cx="411480" cy="0"/>
          </a:xfrm>
          <a:prstGeom prst="line">
            <a:avLst/>
          </a:prstGeom>
          <a:ln w="31750">
            <a:solidFill>
              <a:srgbClr val="0B2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5816" y="3063240"/>
            <a:ext cx="1371600" cy="1097280"/>
          </a:xfrm>
          <a:prstGeom prst="roundRect">
            <a:avLst>
              <a:gd name="adj" fmla="val 6666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 i="0">
                <a:solidFill>
                  <a:srgbClr val="0B2B30"/>
                </a:solidFill>
                <a:latin typeface="Calibri"/>
              </a:rPr>
              <a:t>24 V</a:t>
            </a:r>
          </a:p>
          <a:p>
            <a:pPr algn="ctr"/>
            <a:r>
              <a:rPr sz="1400" b="0" i="0">
                <a:solidFill>
                  <a:srgbClr val="1E3539"/>
                </a:solidFill>
                <a:latin typeface="Calibri"/>
              </a:rPr>
              <a:t>bus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784848" y="2103120"/>
            <a:ext cx="576072" cy="1508760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691640"/>
            <a:ext cx="4178808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Motor drivers</a:t>
            </a:r>
          </a:p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2 × MY1016Z, 250 W each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784848" y="3200400"/>
            <a:ext cx="576072" cy="411480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2788920"/>
            <a:ext cx="4178808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24 → 12 V converter</a:t>
            </a:r>
          </a:p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Wiper arm motor · electromagnet · light + siren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84848" y="3611880"/>
            <a:ext cx="576072" cy="685800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3886200"/>
            <a:ext cx="4178808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24 → 5 V converter</a:t>
            </a:r>
          </a:p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Raspberry Pi 4 → camera, IMU, STM32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84848" y="3611880"/>
            <a:ext cx="576072" cy="1783080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4983480"/>
            <a:ext cx="4178808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Access point supply</a:t>
            </a:r>
          </a:p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Robot Wi-Fi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4572000"/>
            <a:ext cx="612648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E-stop first: </a:t>
            </a:r>
            <a:r>
              <a:rPr sz="1400" b="0" i="0">
                <a:solidFill>
                  <a:srgbClr val="1E3539"/>
                </a:solidFill>
                <a:latin typeface="Calibri"/>
              </a:rPr>
              <a:t>every load sits downstream of the hardware stop.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E3539"/>
                </a:solidFill>
                <a:latin typeface="Calibri"/>
              </a:rPr>
              <a:t>High-current drive path </a:t>
            </a:r>
            <a:r>
              <a:rPr sz="1400" b="0" i="0">
                <a:solidFill>
                  <a:srgbClr val="1E3539"/>
                </a:solidFill>
                <a:latin typeface="Calibri"/>
              </a:rPr>
              <a:t>is kept separate from the regulated logic supplies.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 ·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Pi to STM32 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37360"/>
            <a:ext cx="27432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 i="0">
                <a:solidFill>
                  <a:srgbClr val="1E3539"/>
                </a:solidFill>
                <a:latin typeface="Calibri"/>
              </a:rPr>
              <a:t>Raspberry Pi 4</a:t>
            </a:r>
          </a:p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ROS 2 hardware-interface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1737360"/>
            <a:ext cx="27432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 i="0">
                <a:solidFill>
                  <a:srgbClr val="1E3539"/>
                </a:solidFill>
                <a:latin typeface="Calibri"/>
              </a:rPr>
              <a:t>STM32 Black Pill</a:t>
            </a:r>
          </a:p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Real-time firmware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2103120"/>
            <a:ext cx="5349240" cy="0"/>
          </a:xfrm>
          <a:prstGeom prst="line">
            <a:avLst/>
          </a:prstGeom>
          <a:ln w="3175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429000" y="2606040"/>
            <a:ext cx="5349240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17190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1" i="0">
                <a:solidFill>
                  <a:srgbClr val="00838F"/>
                </a:solidFill>
                <a:latin typeface="Calibri"/>
              </a:rPr>
              <a:t>Down: drive (forward, turn) · pickup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1" i="0">
                <a:solidFill>
                  <a:srgbClr val="C97B1A"/>
                </a:solidFill>
                <a:latin typeface="Calibri"/>
              </a:rPr>
              <a:t>Up: encoder counts · metal level · arm upright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291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UART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37033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COBS byte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3488" y="37033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4192" y="370332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payload (packed struct)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5296" y="3703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6E6C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checksum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93200" y="37033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0B2B30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0x00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46634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2784" y="47365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COBS framing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Zero bytes appear only as the delimiter, so the receiver always resynchronises on the next frame.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224" y="46634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96104" y="47365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Checksum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610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A corrupted frame is dropped, never acted 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6544" y="46634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99424" y="47365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250 ms watchdog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9424" y="507492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No valid command for 250 ms → the STM32 sets motor PWM to zero.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 ·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Robot to control station: our own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3840480" cy="420624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2784" y="1783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0838F"/>
                </a:solidFill>
                <a:latin typeface="Calibri"/>
              </a:rPr>
              <a:t>Robot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4224" y="228600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Onboard Wi-Fi access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" y="333756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F0F7F7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Raspberry Pi 4</a:t>
            </a:r>
          </a:p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ROS 2 nodes · RTSP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" y="438912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F0F7F7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STM32 +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8" y="1691640"/>
            <a:ext cx="3840480" cy="420624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27848" y="1783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1" i="0">
                <a:solidFill>
                  <a:srgbClr val="00838F"/>
                </a:solidFill>
                <a:latin typeface="Calibri"/>
              </a:rPr>
              <a:t>Base station (outside the fence)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28600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Laptop joins the robot's 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33756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F0F7F7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ROS 2 bridge</a:t>
            </a:r>
          </a:p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9288" y="4389120"/>
            <a:ext cx="3291840" cy="822960"/>
          </a:xfrm>
          <a:prstGeom prst="roundRect">
            <a:avLst>
              <a:gd name="adj" fmla="val 8888"/>
            </a:avLst>
          </a:prstGeom>
          <a:solidFill>
            <a:srgbClr val="F0F7F7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GUI + vision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2697480"/>
            <a:ext cx="3154680" cy="0"/>
          </a:xfrm>
          <a:prstGeom prst="line">
            <a:avLst/>
          </a:prstGeom>
          <a:ln w="38100">
            <a:solidFill>
              <a:srgbClr val="00838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17720" y="2057400"/>
            <a:ext cx="297180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400" b="1" i="0">
                <a:solidFill>
                  <a:srgbClr val="00838F"/>
                </a:solidFill>
                <a:latin typeface="Calibri"/>
              </a:rPr>
              <a:t>ROS 2 DDS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drive at 20 Hz · odometry · metal · arm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3794760"/>
            <a:ext cx="3154680" cy="0"/>
          </a:xfrm>
          <a:prstGeom prst="line">
            <a:avLst/>
          </a:prstGeom>
          <a:ln w="3810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7720" y="38862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400" b="1" i="0">
                <a:solidFill>
                  <a:srgbClr val="C97B1A"/>
                </a:solidFill>
                <a:latin typeface="Calibri"/>
              </a:rPr>
              <a:t>RTSP video, H.264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kept out of DDS to save bandwidth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92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1" i="0">
                <a:solidFill>
                  <a:srgbClr val="0B2B30"/>
                </a:solidFill>
                <a:latin typeface="Calibri"/>
              </a:rPr>
              <a:t>Why on the robot? </a:t>
            </a:r>
            <a:r>
              <a:rPr sz="1300" b="0" i="0">
                <a:solidFill>
                  <a:srgbClr val="1E3539"/>
                </a:solidFill>
                <a:latin typeface="Calibri"/>
              </a:rPr>
              <a:t>The arena provides no Wi-Fi, so the link is the same in the lab and at the competition.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Power budget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9904" y="1645920"/>
          <a:ext cx="667512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904" y="562356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56F73"/>
                </a:solidFill>
                <a:latin typeface="Calibri"/>
              </a:rPr>
              <a:t>Motor values from datasheets (wiper: 12 V × 5.6 A). *Estimates, to be measured.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91640"/>
            <a:ext cx="1892807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80" y="1874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00838F"/>
                </a:solidFill>
                <a:latin typeface="Cairo"/>
              </a:rPr>
              <a:t>≈ 600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468880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Peak, all loads at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691640"/>
            <a:ext cx="1892807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38360" y="1874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00838F"/>
                </a:solidFill>
                <a:latin typeface="Cairo"/>
              </a:rPr>
              <a:t>≈ 230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468880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Match average (drive at ~40 %)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91840"/>
            <a:ext cx="1892807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26680" y="34747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00838F"/>
                </a:solidFill>
                <a:latin typeface="Cairo"/>
              </a:rPr>
              <a:t>≈ 75 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4069080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Energy for one 20 min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291840"/>
            <a:ext cx="1892807" cy="1463040"/>
          </a:xfrm>
          <a:prstGeom prst="roundRect">
            <a:avLst>
              <a:gd name="adj" fmla="val 5000"/>
            </a:avLst>
          </a:prstGeom>
          <a:solidFill>
            <a:srgbClr val="D6ECEE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738360" y="34747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0B2B30"/>
                </a:solidFill>
                <a:latin typeface="Cairo"/>
              </a:rPr>
              <a:t>≈ 3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069080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From ≈ 222 Wh on board**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937760"/>
            <a:ext cx="3995928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556F73"/>
                </a:solidFill>
                <a:latin typeface="Calibri"/>
              </a:rPr>
              <a:t>**Assumes the two 10 Ah packs form one 22.2 V (6S) bus. Peak ≈ 27 A, well inside the packs' discharge rating.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Stopping is layered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49984" y="224028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GUI focus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Drive zeroed, speed lock cleared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0688" y="329184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6136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106216" y="224028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864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GUI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5864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No UI update for 200 ms → zero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6920" y="329184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22368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962448" y="224028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2096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ROS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2096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Drops commands &gt; 200 ms old, publishes one zero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23152" y="329184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78600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818680" y="224028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8328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Raspberry 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8328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Own motion timeout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79384" y="329184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34832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674912" y="2240280"/>
            <a:ext cx="384048" cy="384048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4560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B2B30"/>
                </a:solidFill>
                <a:latin typeface="Calibri"/>
              </a:rPr>
              <a:t>STM32 watchdog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4560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250 ms without valid frame → PWM 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35616" y="3291840"/>
            <a:ext cx="146304" cy="0"/>
          </a:xfrm>
          <a:prstGeom prst="line">
            <a:avLst/>
          </a:prstGeom>
          <a:ln w="31750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91064" y="21031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0531144" y="22402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0792" y="2743200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C62828"/>
                </a:solidFill>
                <a:latin typeface="Calibri"/>
              </a:rPr>
              <a:t>Hardware E-stop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0792" y="3337560"/>
            <a:ext cx="1481328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300" b="0" i="0">
                <a:solidFill>
                  <a:srgbClr val="556F73"/>
                </a:solidFill>
                <a:latin typeface="Calibri"/>
              </a:rPr>
              <a:t>Cuts power to the 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" y="16642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556F73"/>
                </a:solidFill>
                <a:latin typeface="Calibri"/>
              </a:rPr>
              <a:t>Laptop  →  robot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" y="4800600"/>
            <a:ext cx="10972800" cy="1051560"/>
          </a:xfrm>
          <a:prstGeom prst="roundRect">
            <a:avLst>
              <a:gd name="adj" fmla="val 6956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Every stage fails safe on its own. </a:t>
            </a:r>
            <a:r>
              <a:rPr sz="1500" b="0" i="0">
                <a:solidFill>
                  <a:srgbClr val="1E3539"/>
                </a:solidFill>
                <a:latin typeface="Calibri"/>
              </a:rPr>
              <a:t>A lost link, hung GUI or crashed process stops the robot, and reconnecting never resumes motion: the operator must press a key again.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20</a:t>
            </a:r>
          </a:p>
        </p:txBody>
      </p:sp>
      <p:pic>
        <p:nvPicPr>
          <p:cNvPr id="5" name="Picture 4" descr="WhatsApp Image 2026-10-08 at 10.57.44 PM.jpeg"/>
          <p:cNvPicPr>
            <a:picLocks noChangeAspect="1"/>
          </p:cNvPicPr>
          <p:nvPr/>
        </p:nvPicPr>
        <p:blipFill>
          <a:blip r:embed="rId3"/>
          <a:srcRect l="6793" r="6793"/>
          <a:stretch>
            <a:fillRect/>
          </a:stretch>
        </p:blipFill>
        <p:spPr>
          <a:xfrm>
            <a:off x="6720840" y="1600200"/>
            <a:ext cx="4846320" cy="4206240"/>
          </a:xfrm>
          <a:prstGeom prst="roundRect">
            <a:avLst>
              <a:gd name="adj" fmla="val 2608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609904" y="14173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600" b="1" i="0">
                <a:solidFill>
                  <a:srgbClr val="00ACC1"/>
                </a:solidFill>
                <a:latin typeface="Cair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320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00838F"/>
                </a:solidFill>
                <a:latin typeface="Cairo"/>
              </a:rPr>
              <a:t>Software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Architecture: STM32, Pi and laptop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Mapping and localization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Mine detection and classification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Control station GUI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600" b="0" i="0">
                <a:solidFill>
                  <a:srgbClr val="556F73"/>
                </a:solidFill>
                <a:latin typeface="Calibri"/>
              </a:rPr>
              <a:t>Navigation plan and reliability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Architecture: three tiers, one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45920"/>
            <a:ext cx="2468880" cy="425196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7064" y="17190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STM32 firmware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74720" y="17190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Raspberry Pi 4 · ROS 2 in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45920"/>
            <a:ext cx="431596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0" y="1719072"/>
            <a:ext cx="404164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0838F"/>
                </a:solidFill>
                <a:latin typeface="Calibri"/>
              </a:rPr>
              <a:t>Base-station laptop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784" y="224028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Real-time loops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PWM · encoders · ADC · arm sequence · watchdog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240280"/>
            <a:ext cx="2834640" cy="594360"/>
          </a:xfrm>
          <a:prstGeom prst="roundRect">
            <a:avLst>
              <a:gd name="adj" fmla="val 12307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Hardware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017520"/>
            <a:ext cx="2834640" cy="594360"/>
          </a:xfrm>
          <a:prstGeom prst="roundRect">
            <a:avLst>
              <a:gd name="adj" fmla="val 12307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IMU filter (Madgwick)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794760"/>
            <a:ext cx="2834640" cy="594360"/>
          </a:xfrm>
          <a:prstGeom prst="roundRect">
            <a:avLst>
              <a:gd name="adj" fmla="val 12307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Kalman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937760"/>
            <a:ext cx="2834640" cy="594360"/>
          </a:xfrm>
          <a:prstGeom prst="roundRect">
            <a:avLst>
              <a:gd name="adj" fmla="val 12307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RTSP video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240280"/>
            <a:ext cx="2377440" cy="685800"/>
          </a:xfrm>
          <a:prstGeom prst="roundRect">
            <a:avLst>
              <a:gd name="adj" fmla="val 10666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ROS 2 bridge (Docker)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429000"/>
            <a:ext cx="2377440" cy="685800"/>
          </a:xfrm>
          <a:prstGeom prst="roundRect">
            <a:avLst>
              <a:gd name="adj" fmla="val 10666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Control panel GUI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4937760"/>
            <a:ext cx="2377440" cy="685800"/>
          </a:xfrm>
          <a:prstGeom prst="roundRect">
            <a:avLst>
              <a:gd name="adj" fmla="val 10666"/>
            </a:avLst>
          </a:prstGeom>
          <a:solidFill>
            <a:srgbClr val="F0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3539"/>
                </a:solidFill>
                <a:latin typeface="Calibri"/>
              </a:rPr>
              <a:t>Vision: ONNX Runtime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2542032"/>
            <a:ext cx="566928" cy="0"/>
          </a:xfrm>
          <a:prstGeom prst="line">
            <a:avLst/>
          </a:prstGeom>
          <a:ln w="22225">
            <a:solidFill>
              <a:srgbClr val="0B2B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34640" y="224028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1" i="0">
                <a:solidFill>
                  <a:srgbClr val="0B2B30"/>
                </a:solidFill>
                <a:latin typeface="Calibri"/>
              </a:rPr>
              <a:t>UART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37760" y="2862072"/>
            <a:ext cx="0" cy="128016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639312"/>
            <a:ext cx="0" cy="128016"/>
          </a:xfrm>
          <a:prstGeom prst="line">
            <a:avLst/>
          </a:prstGeom>
          <a:ln w="22225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382512" y="2578608"/>
            <a:ext cx="1042415" cy="1508760"/>
          </a:xfrm>
          <a:prstGeom prst="line">
            <a:avLst/>
          </a:prstGeom>
          <a:ln w="22225">
            <a:solidFill>
              <a:srgbClr val="00838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224028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1" i="0">
                <a:solidFill>
                  <a:srgbClr val="00838F"/>
                </a:solidFill>
                <a:latin typeface="Calibri"/>
              </a:rPr>
              <a:t>DDS</a:t>
            </a:r>
          </a:p>
          <a:p>
            <a:pPr algn="ctr"/>
            <a:r>
              <a:rPr sz="1000" b="0" i="0">
                <a:solidFill>
                  <a:srgbClr val="00838F"/>
                </a:solidFill>
                <a:latin typeface="Calibri"/>
              </a:rPr>
              <a:t>Wi-Fi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82512" y="5230368"/>
            <a:ext cx="1042415" cy="45720"/>
          </a:xfrm>
          <a:prstGeom prst="line">
            <a:avLst/>
          </a:prstGeom>
          <a:ln w="22225">
            <a:solidFill>
              <a:srgbClr val="C97B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48463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1" i="0">
                <a:solidFill>
                  <a:srgbClr val="C97B1A"/>
                </a:solidFill>
                <a:latin typeface="Calibri"/>
              </a:rPr>
              <a:t>RTSP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41080" y="2953512"/>
            <a:ext cx="0" cy="448056"/>
          </a:xfrm>
          <a:prstGeom prst="line">
            <a:avLst/>
          </a:prstGeom>
          <a:ln w="22225">
            <a:solidFill>
              <a:srgbClr val="00ACC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641080" y="4142232"/>
            <a:ext cx="0" cy="768096"/>
          </a:xfrm>
          <a:prstGeom prst="line">
            <a:avLst/>
          </a:prstGeom>
          <a:ln w="22225">
            <a:solidFill>
              <a:srgbClr val="00AC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21240" y="2194560"/>
            <a:ext cx="1600200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0ACC1"/>
                </a:solidFill>
                <a:latin typeface="Calibri"/>
              </a:rPr>
              <a:t>ZeroMQ IPC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556F73"/>
                </a:solidFill>
                <a:latin typeface="Calibri"/>
              </a:rPr>
              <a:t>One packed, versioned C++ header shared by GUI, bridge and vision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E3539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B2B30"/>
                </a:solidFill>
                <a:latin typeface="Calibri"/>
              </a:rPr>
              <a:t>Separate processes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556F73"/>
                </a:solidFill>
                <a:latin typeface="Calibri"/>
              </a:rPr>
              <a:t>An inference stall or bridge crash can't freeze the GUI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Mapping and localization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749039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1065997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2071837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63315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" y="2269155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0633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" y="2466473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57951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" y="2663791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55269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" y="2861109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52587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" y="3058427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49905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" y="3255745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47223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" y="3453063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44541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" y="3650381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41858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" y="3847698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039176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" y="4045016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36494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8680" y="4242334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33812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8680" y="4439652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631130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8680" y="4636970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28448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8680" y="4834288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25766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8680" y="5031606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23084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8680" y="5228924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20402" y="1874519"/>
            <a:ext cx="0" cy="374904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8680" y="5426242"/>
            <a:ext cx="3749040" cy="0"/>
          </a:xfrm>
          <a:prstGeom prst="line">
            <a:avLst/>
          </a:prstGeom>
          <a:ln w="9525">
            <a:solidFill>
              <a:srgbClr val="C9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9193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1147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3101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J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45054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7008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8962" y="1618487"/>
            <a:ext cx="380197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000" b="0" i="0">
                <a:solidFill>
                  <a:srgbClr val="556F73"/>
                </a:solidFill>
                <a:latin typeface="Calibri"/>
              </a:rPr>
              <a:t>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" y="5426242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" y="4834288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" y="4242334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3650381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7" y="3058427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7" y="2466473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7" y="1874519"/>
            <a:ext cx="292608" cy="19731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556F73"/>
                </a:solidFill>
                <a:latin typeface="Calibri"/>
              </a:rPr>
              <a:t>19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67338" y="5327583"/>
            <a:ext cx="3551723" cy="0"/>
          </a:xfrm>
          <a:prstGeom prst="line">
            <a:avLst/>
          </a:prstGeom>
          <a:ln w="19050">
            <a:solidFill>
              <a:srgbClr val="00ACC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519061" y="4735629"/>
            <a:ext cx="0" cy="591954"/>
          </a:xfrm>
          <a:prstGeom prst="line">
            <a:avLst/>
          </a:prstGeom>
          <a:ln w="19050">
            <a:solidFill>
              <a:srgbClr val="00ACC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67338" y="4735629"/>
            <a:ext cx="3551723" cy="0"/>
          </a:xfrm>
          <a:prstGeom prst="line">
            <a:avLst/>
          </a:prstGeom>
          <a:ln w="19050">
            <a:solidFill>
              <a:srgbClr val="00ACC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7338" y="4143675"/>
            <a:ext cx="0" cy="591954"/>
          </a:xfrm>
          <a:prstGeom prst="line">
            <a:avLst/>
          </a:prstGeom>
          <a:ln w="19050">
            <a:solidFill>
              <a:srgbClr val="00ACC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7338" y="4143675"/>
            <a:ext cx="3551723" cy="0"/>
          </a:xfrm>
          <a:prstGeom prst="line">
            <a:avLst/>
          </a:prstGeom>
          <a:ln w="19050">
            <a:solidFill>
              <a:srgbClr val="00ACC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756610" y="4735629"/>
            <a:ext cx="177586" cy="177586"/>
          </a:xfrm>
          <a:prstGeom prst="rect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335153" y="4143675"/>
            <a:ext cx="177586" cy="177586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545882" y="5130265"/>
            <a:ext cx="177586" cy="177586"/>
          </a:xfrm>
          <a:prstGeom prst="rect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58952" y="5349240"/>
            <a:ext cx="329184" cy="329184"/>
          </a:xfrm>
          <a:prstGeom prst="ellipse">
            <a:avLst/>
          </a:prstGeom>
          <a:solidFill>
            <a:srgbClr val="0B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82880" cy="182880"/>
          </a:xfrm>
          <a:prstGeom prst="rect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24712" y="575157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Buried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39" y="5806440"/>
            <a:ext cx="182880" cy="18288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2404872" y="575157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556F73"/>
                </a:solidFill>
                <a:latin typeface="Calibri"/>
              </a:rPr>
              <a:t>Surface</a:t>
            </a:r>
          </a:p>
        </p:txBody>
      </p:sp>
      <p:sp>
        <p:nvSpPr>
          <p:cNvPr id="71" name="Oval 70"/>
          <p:cNvSpPr/>
          <p:nvPr/>
        </p:nvSpPr>
        <p:spPr>
          <a:xfrm>
            <a:off x="5257800" y="1709928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0" y="16916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Localize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2039112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Kalman filter fuses track odometry (STM32 encoders) with the MPU-9250 heading. No GPS.</a:t>
            </a:r>
          </a:p>
        </p:txBody>
      </p:sp>
      <p:sp>
        <p:nvSpPr>
          <p:cNvPr id="74" name="Oval 73"/>
          <p:cNvSpPr/>
          <p:nvPr/>
        </p:nvSpPr>
        <p:spPr>
          <a:xfrm>
            <a:off x="5257800" y="2761488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27432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Re-anchor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0" y="3090672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At a known corner the operator resets x, y and snaps the heading to the nearest 90°.</a:t>
            </a:r>
          </a:p>
        </p:txBody>
      </p:sp>
      <p:sp>
        <p:nvSpPr>
          <p:cNvPr id="77" name="Oval 76"/>
          <p:cNvSpPr/>
          <p:nvPr/>
        </p:nvSpPr>
        <p:spPr>
          <a:xfrm>
            <a:off x="5257800" y="3813048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37947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Place the mine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60720" y="4142232"/>
            <a:ext cx="580644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Robot pose + detector offset (dx, dy), rotated by heading θ: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4526280"/>
            <a:ext cx="5806440" cy="658368"/>
          </a:xfrm>
          <a:prstGeom prst="roundRect">
            <a:avLst>
              <a:gd name="adj" fmla="val 11111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897880" y="4526280"/>
            <a:ext cx="55778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0B2B30"/>
                </a:solidFill>
                <a:latin typeface="Cambria"/>
              </a:rPr>
              <a:t>xₘ = x + dx·cos θ − dy·sin θ</a:t>
            </a:r>
          </a:p>
          <a:p>
            <a:pPr algn="l"/>
            <a:r>
              <a:rPr sz="1400" b="0" i="0">
                <a:solidFill>
                  <a:srgbClr val="0B2B30"/>
                </a:solidFill>
                <a:latin typeface="Cambria"/>
              </a:rPr>
              <a:t>yₘ = y + dx·sin θ + dy·cos θ</a:t>
            </a:r>
          </a:p>
        </p:txBody>
      </p:sp>
      <p:sp>
        <p:nvSpPr>
          <p:cNvPr id="82" name="Oval 81"/>
          <p:cNvSpPr/>
          <p:nvPr/>
        </p:nvSpPr>
        <p:spPr>
          <a:xfrm>
            <a:off x="5257800" y="5321808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53035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Merge and persist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60720" y="5650992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Hits within a merge radius are one mine; records survive a restart. The map is generated automatically.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Mine detection and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37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Metal detector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rising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63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1E3539"/>
                </a:solidFill>
                <a:latin typeface="Calibri"/>
              </a:rPr>
              <a:t>Camera → ONNX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fresh vision result?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3891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C62828"/>
                </a:solidFill>
                <a:latin typeface="Calibri"/>
              </a:rPr>
              <a:t>Light + siren</a:t>
            </a:r>
          </a:p>
          <a:p>
            <a:pPr algn="ctr"/>
            <a:r>
              <a:rPr sz="1200" b="0" i="0">
                <a:solidFill>
                  <a:srgbClr val="556F73"/>
                </a:solidFill>
                <a:latin typeface="Calibri"/>
              </a:rPr>
              <a:t>on every metal hit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670048"/>
            <a:ext cx="0" cy="374904"/>
          </a:xfrm>
          <a:prstGeom prst="line">
            <a:avLst/>
          </a:prstGeom>
          <a:ln w="22225">
            <a:solidFill>
              <a:srgbClr val="0B2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55648" y="3995928"/>
            <a:ext cx="0" cy="374904"/>
          </a:xfrm>
          <a:prstGeom prst="line">
            <a:avLst/>
          </a:prstGeom>
          <a:ln w="22225">
            <a:solidFill>
              <a:srgbClr val="0B2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26080" y="2194560"/>
            <a:ext cx="365760" cy="320040"/>
          </a:xfrm>
          <a:prstGeom prst="line">
            <a:avLst/>
          </a:prstGeom>
          <a:ln w="15875">
            <a:solidFill>
              <a:srgbClr val="C9DF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737360"/>
            <a:ext cx="822960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1E3539"/>
                </a:solidFill>
                <a:latin typeface="Calibri"/>
              </a:rPr>
              <a:t>Metal + camera sees a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194560"/>
            <a:ext cx="1554480" cy="640080"/>
          </a:xfrm>
          <a:prstGeom prst="roundRect">
            <a:avLst>
              <a:gd name="adj" fmla="val 11428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37360"/>
            <a:ext cx="2926080" cy="1554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Mapped, then the autonomous pickup sequence collects 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520440"/>
            <a:ext cx="365760" cy="777239"/>
          </a:xfrm>
          <a:prstGeom prst="line">
            <a:avLst/>
          </a:prstGeom>
          <a:ln w="15875">
            <a:solidFill>
              <a:srgbClr val="C9DF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37560" y="3520439"/>
            <a:ext cx="822960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20440" y="3520439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1E3539"/>
                </a:solidFill>
                <a:latin typeface="Calibri"/>
              </a:rPr>
              <a:t>Metal + camera sees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977639"/>
            <a:ext cx="1554480" cy="640080"/>
          </a:xfrm>
          <a:prstGeom prst="roundRect">
            <a:avLst>
              <a:gd name="adj" fmla="val 11428"/>
            </a:avLst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BURIED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520439"/>
            <a:ext cx="2926080" cy="1554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Mapped at its position; the arm is not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5349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20440" y="5349240"/>
            <a:ext cx="7955279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B2B30"/>
                </a:solidFill>
                <a:latin typeface="Calibri"/>
              </a:rPr>
              <a:t>Vision alone never creates a mine: the metal detector must confirm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Control station GUI</a:t>
            </a:r>
          </a:p>
        </p:txBody>
      </p:sp>
      <p:pic>
        <p:nvPicPr>
          <p:cNvPr id="7" name="Picture 6" descr="Screenshot_20261010_211448.png"/>
          <p:cNvPicPr>
            <a:picLocks noChangeAspect="1"/>
          </p:cNvPicPr>
          <p:nvPr/>
        </p:nvPicPr>
        <p:blipFill>
          <a:blip r:embed="rId3"/>
          <a:srcRect l="331" r="331"/>
          <a:stretch>
            <a:fillRect/>
          </a:stretch>
        </p:blipFill>
        <p:spPr>
          <a:xfrm>
            <a:off x="609904" y="1645920"/>
            <a:ext cx="7086600" cy="42519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001000" y="1691640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Camera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7510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Live RTSP video from the robot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2560320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Field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4378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Mines placed automatically as they are found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3429000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Drive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1246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Arrow keys with smooth ramp; Space locks speed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0" y="4297679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25195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Pick up mine (J)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58114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Starts the autonomous pickup; disabled until the arm is upright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5166359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0B2B30"/>
                </a:solidFill>
                <a:latin typeface="Calibri"/>
              </a:rPr>
              <a:t>Link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449824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Stale data greyed out, never shown as zero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Arena navigation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4023360" cy="4023360"/>
          </a:xfrm>
          <a:prstGeom prst="rect">
            <a:avLst/>
          </a:prstGeom>
          <a:solidFill>
            <a:srgbClr val="F6E6CF"/>
          </a:solidFill>
          <a:ln w="12700">
            <a:solidFill>
              <a:srgbClr val="C9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 flipV="1">
            <a:off x="1156062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062" y="1965960"/>
            <a:ext cx="574766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0828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0828" y="5623560"/>
            <a:ext cx="574766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05594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05594" y="1965960"/>
            <a:ext cx="574766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80360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80360" y="5623560"/>
            <a:ext cx="574765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55125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55125" y="1965960"/>
            <a:ext cx="574766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29891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29891" y="5623560"/>
            <a:ext cx="574766" cy="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04657" y="1965960"/>
            <a:ext cx="0" cy="3657600"/>
          </a:xfrm>
          <a:prstGeom prst="line">
            <a:avLst/>
          </a:prstGeom>
          <a:ln w="25400">
            <a:solidFill>
              <a:srgbClr val="0083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85800" y="5605272"/>
            <a:ext cx="384048" cy="384048"/>
          </a:xfrm>
          <a:prstGeom prst="ellipse">
            <a:avLst/>
          </a:prstGeom>
          <a:solidFill>
            <a:srgbClr val="0B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1600200"/>
            <a:ext cx="384048" cy="384048"/>
          </a:xfrm>
          <a:prstGeom prst="ellipse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3" name="Oval 22"/>
          <p:cNvSpPr/>
          <p:nvPr/>
        </p:nvSpPr>
        <p:spPr>
          <a:xfrm>
            <a:off x="4690872" y="5605272"/>
            <a:ext cx="384048" cy="384048"/>
          </a:xfrm>
          <a:prstGeom prst="ellipse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79592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0" i="0">
                <a:solidFill>
                  <a:srgbClr val="556F73"/>
                </a:solidFill>
                <a:latin typeface="Calibri"/>
              </a:rPr>
              <a:t>S start corner · R pose reset at a corner</a:t>
            </a:r>
          </a:p>
        </p:txBody>
      </p:sp>
      <p:sp>
        <p:nvSpPr>
          <p:cNvPr id="26" name="Oval 25"/>
          <p:cNvSpPr/>
          <p:nvPr/>
        </p:nvSpPr>
        <p:spPr>
          <a:xfrm>
            <a:off x="5394960" y="1709928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6916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Start in a corner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02996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Pose reset to the known corner before the first lane.</a:t>
            </a:r>
          </a:p>
        </p:txBody>
      </p:sp>
      <p:sp>
        <p:nvSpPr>
          <p:cNvPr id="29" name="Oval 28"/>
          <p:cNvSpPr/>
          <p:nvPr/>
        </p:nvSpPr>
        <p:spPr>
          <a:xfrm>
            <a:off x="5394960" y="2551176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53288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Lawnmower sweep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871216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Parallel lanes, spacing = detector width minus overlap, so no strip of the field is missed.</a:t>
            </a:r>
          </a:p>
        </p:txBody>
      </p:sp>
      <p:sp>
        <p:nvSpPr>
          <p:cNvPr id="32" name="Oval 31"/>
          <p:cNvSpPr/>
          <p:nvPr/>
        </p:nvSpPr>
        <p:spPr>
          <a:xfrm>
            <a:off x="5394960" y="3392424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337413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Stop, signal, classify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712464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Light and siren fire on every metal hit; surface mines are picked up on the spot.</a:t>
            </a:r>
          </a:p>
        </p:txBody>
      </p:sp>
      <p:sp>
        <p:nvSpPr>
          <p:cNvPr id="35" name="Oval 34"/>
          <p:cNvSpPr/>
          <p:nvPr/>
        </p:nvSpPr>
        <p:spPr>
          <a:xfrm>
            <a:off x="5394960" y="4233672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421538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Re-anchor at every corner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553712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Each lane end near a corner resets drift.</a:t>
            </a:r>
          </a:p>
        </p:txBody>
      </p:sp>
      <p:sp>
        <p:nvSpPr>
          <p:cNvPr id="38" name="Oval 37"/>
          <p:cNvSpPr/>
          <p:nvPr/>
        </p:nvSpPr>
        <p:spPr>
          <a:xfrm>
            <a:off x="5394960" y="5074920"/>
            <a:ext cx="365760" cy="3657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0566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Budget the 20 minutes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39496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556F73"/>
                </a:solidFill>
                <a:latin typeface="Calibri"/>
              </a:rPr>
              <a:t>Sweep time ≈ (19 m / lane spacing) × 19 m / speed, planned to cover the whole field.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Built to be reliable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38504" y="192024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8584" y="19202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One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" y="25603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A single versioned C++ header defines every message the GUI, bridge and vision process exchange.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744" y="169164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16344" y="1920240"/>
            <a:ext cx="457200" cy="457200"/>
          </a:xfrm>
          <a:prstGeom prst="ellipse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424" y="19202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Validate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344" y="25603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Wrong size, version, flag, range or non-finite float: the message is dropped.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384048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8504" y="4069080"/>
            <a:ext cx="457200" cy="457200"/>
          </a:xfrm>
          <a:prstGeom prst="ellipse">
            <a:avLst/>
          </a:prstGeom>
          <a:solidFill>
            <a:srgbClr val="C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8584" y="40690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Dockerized robot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" y="4709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Host networking for DDS, devices found at boot, config bind-mounted so we can tune on site without rebuilding.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744" y="3840480"/>
            <a:ext cx="539496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16344" y="406908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6424" y="406908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B2B30"/>
                </a:solidFill>
                <a:latin typeface="Calibri"/>
              </a:rPr>
              <a:t>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344" y="4709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556F73"/>
                </a:solidFill>
                <a:latin typeface="Calibri"/>
              </a:rPr>
              <a:t>Unit and integration tests cover drive ramping, pickup gating, message decoding and the ZeroMQ link.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904" y="61539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0838F"/>
                </a:solidFill>
                <a:latin typeface="Cairo"/>
              </a:rPr>
              <a:t>Minesweepers 13th Edition</a:t>
            </a:r>
            <a:r>
              <a:rPr sz="1050" b="1" i="0">
                <a:solidFill>
                  <a:srgbClr val="00838F"/>
                </a:solidFill>
                <a:latin typeface="Cairo"/>
              </a:rPr>
              <a:t>  ·  Watad Ejust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153912"/>
            <a:ext cx="612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50" b="1" i="0">
                <a:solidFill>
                  <a:srgbClr val="00838F"/>
                </a:solidFill>
                <a:latin typeface="Cairo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C97B1A"/>
                </a:solidFill>
                <a:latin typeface="Calibri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04672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200" b="1" i="0">
                <a:solidFill>
                  <a:srgbClr val="00838F"/>
                </a:solidFill>
                <a:latin typeface="Cairo"/>
              </a:rPr>
              <a:t>Team, budget and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691640"/>
            <a:ext cx="3657600" cy="2057400"/>
          </a:xfrm>
          <a:prstGeom prst="roundRect">
            <a:avLst>
              <a:gd name="adj" fmla="val 3555"/>
            </a:avLst>
          </a:prstGeom>
          <a:solidFill>
            <a:srgbClr val="D6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291840" cy="187451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600" b="1" i="0">
                <a:solidFill>
                  <a:srgbClr val="00838F"/>
                </a:solidFill>
                <a:latin typeface="Cairo"/>
              </a:rPr>
              <a:t>Watad Ejust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556F73"/>
                </a:solidFill>
                <a:latin typeface="Calibri"/>
              </a:rPr>
              <a:t>Academia category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3539"/>
                </a:solidFill>
                <a:latin typeface="Calibri"/>
              </a:rPr>
              <a:t>Mechanical · electronics ·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931920"/>
            <a:ext cx="3657600" cy="196596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291840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Budget-minded build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556F73"/>
                </a:solidFill>
                <a:latin typeface="Calibri"/>
              </a:rPr>
              <a:t>Wheelchair drive motors and a car wiper motor bought from the local market; an open-source software stack.</a:t>
            </a:r>
          </a:p>
        </p:txBody>
      </p:sp>
      <p:pic>
        <p:nvPicPr>
          <p:cNvPr id="11" name="Picture 10" descr="WhatsApp Image 2026-10-08 at 10.57.43 PM (5).jpeg"/>
          <p:cNvPicPr>
            <a:picLocks noChangeAspect="1"/>
          </p:cNvPicPr>
          <p:nvPr/>
        </p:nvPicPr>
        <p:blipFill>
          <a:blip r:embed="rId3"/>
          <a:srcRect t="32881" b="21921"/>
          <a:stretch>
            <a:fillRect/>
          </a:stretch>
        </p:blipFill>
        <p:spPr>
          <a:xfrm>
            <a:off x="4572000" y="1691640"/>
            <a:ext cx="7013448" cy="2377440"/>
          </a:xfrm>
          <a:prstGeom prst="roundRect">
            <a:avLst>
              <a:gd name="adj" fmla="val 4615"/>
            </a:avLst>
          </a:prstGeom>
        </p:spPr>
      </p:pic>
      <p:sp>
        <p:nvSpPr>
          <p:cNvPr id="12" name="Rounded Rectangle 11"/>
          <p:cNvSpPr/>
          <p:nvPr/>
        </p:nvSpPr>
        <p:spPr>
          <a:xfrm>
            <a:off x="4572000" y="4251960"/>
            <a:ext cx="7013448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00600" y="434340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0B2B30"/>
                </a:solidFill>
                <a:latin typeface="Calibri"/>
              </a:rPr>
              <a:t>After the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80060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Autonomous navigation: coverage planning on top of the existing localization</a:t>
            </a:r>
          </a:p>
          <a:p>
            <a:pPr marL="228600" indent="-228600">
              <a:spcBef>
                <a:spcPts val="600"/>
              </a:spcBef>
              <a:buClr>
                <a:srgbClr val="00838F"/>
              </a:buClr>
              <a:buFont typeface="Arial"/>
              <a:buChar char="•"/>
            </a:pPr>
            <a:r>
              <a:rPr sz="1400" b="0" i="0">
                <a:solidFill>
                  <a:srgbClr val="1E3539"/>
                </a:solidFill>
                <a:latin typeface="Calibri"/>
              </a:rPr>
              <a:t>Onboard vision on a Jetson; the GUI protocol stays the same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